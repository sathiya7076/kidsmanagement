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evaluators. Today, I am proud to present the Virtual Daycare Platform, a production-ready, full-stack web application engineered with Python, Flask, SQLAlchemy, and WebSockets. It bridges the critical communication and safety gap between early childhood caretakers and working parents through real-time telemetry, streamlined daily attendance, and strict data isolation.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address why this system was conceived. In traditional early childhood centers, parents face anxiety from lack of visibility, staff are overwhelmed by paper logs, and student privacy is compromised when photos and medical data are posted on generic messaging platforms. Our solution provides an enterprise-grade, secure architecture tailored specifically for early childhood education.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replaces disjointed manual processes with four cohesive pillars: real-time telemetry of child routines, streamlined daily attendance tracking, enterprise-grade multi-tenant privacy enforcement, and critical incident alerting combined with an early learning curriculum.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outlines our 4-tier architectural blueprint. Layer 1 is the responsive frontend rendered through Jinja2 and Bootstrap 5. Layer 2 handles request routing and real-time duplex communication using Flask-SocketIO. Layer 3 segregates business logic into 7 specialized Blueprints for maintainability and scalability. Layer 4 manages persistence, encryption, and device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in child care. We implement a strict three-tier RBAC model. The Director acts as the gatekeeper, approving newly registered staff before they can view any child records. Parents have zero visibility into any other children, guaranteed by our custom security decorators and database filters.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daily attendance engine: a streamlined daily roster where caretakers mark child arrival and departure with a single click. When a caretaker marks a child present, the state machine logs arrival timestamp and notifies the parents immediately. In the evening, pickup marks departure and calculates hours in center, automatically updating monthly compliance analytics.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Caregivers log routines through an optimized touch-friendly interface. There are 6 specialized activity categories, each mapped to distinct Bootstrap UI icons and color tokens. When logged, records are stamped with author IDs, child IDs, and timestamps, immediately synchronizing with the parent's live timeline.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communication, we use Flask-SocketIO to create scoped rooms. A user room for notification bell updates, and a child room for instant chat. If a child develops a fever or has an accident, the caregiver can trigger an emergency alert. This bypasses ordinary chat, paints a high-priority advisory banner on the parent screen, and triggers external SMS/email hooks.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daycare operations, the platform integrates an Early Learning Hub. It categorizes nursery rhymes, interactive stories, and sensory activities specifically tailored to developmental age groups: Infants, Toddlers, and Preschoolers. Parents can continue classroom learning at home in an ad-free, secure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relational schema is engineered with SQLAlchemy ORM. Foreign key constraints bind children to both their guardian and assigned teacher. Cascading rules ensure orphaned records are cleaned if a child record is un-enrolled. Indexes on timestamp and date columns ensure fast queries.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Child data requires high privacy standards. We mitigate top OWASP risks: Broken Access Control is prevented via object-level authorization in 'get_authorized_child'. Injection is mitigated via parameterized SQLAlchemy ORM queries. Insecure file uploads are safeguarded using UUID randomization and extension whitelisting.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backed our implementation with a comprehensive automated test suite in 'test_daycare.py'. Using Python unittest and an in-memory SQLite database, all 8 test suites pass with 100% success rate, validating role redirections, pending approval barriers, daily attendance marking, and security isolation.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adheres to 12-Factor App methodology. It includes a WSGI entry point, a Procfile for cloud hosting, and clean separation of settings in .env. It supports both local zero-configuration SQLite and high-throughput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enhancements, we have identified three major vectors: AI-driven developmental milestone analysis, native mobile applications with push notifications, and IoT smart-gate hardware integration for physical door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Virtual Daycare Platform delivers a robust, secure, and production-tested solution for modern early childhood institutions. It solves parental anxiety, modernizes manual tracking with an intuitive daily roster, and adheres to strict privacy isolation standards. Thank you, and I am now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914400"/>
            <a:ext cx="10360152"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8FAFC"/>
                </a:solidFill>
              </a:defRPr>
            </a:pPr>
            <a:r>
              <a:t>🎈 VIRTUAL DAYCARE PLATFORM</a:t>
            </a:r>
          </a:p>
          <a:p>
            <a:pPr algn="ctr">
              <a:defRPr sz="1800">
                <a:solidFill>
                  <a:srgbClr val="10B981"/>
                </a:solidFill>
              </a:defRPr>
            </a:pPr>
            <a:r>
              <a:t>A Full-Stack, Real-Time Early Childhood Management &amp; Parental Engagement Ecosystem</a:t>
            </a:r>
          </a:p>
          <a:p>
            <a:br/>
            <a:pPr algn="ctr">
              <a:defRPr sz="1400">
                <a:solidFill>
                  <a:srgbClr val="94A3B8"/>
                </a:solidFill>
              </a:defRPr>
            </a:pPr>
            <a:r>
              <a:t>Production Architecture • WebSockets • Daily Attendance Roster • RBAC Privacy Isolation</a:t>
            </a:r>
          </a:p>
          <a:p>
            <a:br/>
            <a:br/>
            <a:pPr algn="ctr">
              <a:defRPr sz="1300" b="1">
                <a:solidFill>
                  <a:srgbClr val="06B6D4"/>
                </a:solidFill>
              </a:defRPr>
            </a:pPr>
            <a:r>
              <a:t>Presented for: College Capstone Project Review &amp; Viva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1. RESEARCH &amp; PROBLEM DOMAIN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Problem Statement &amp; Industry Motivation</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43F5E"/>
                </a:solidFill>
              </a:defRPr>
            </a:pPr>
            <a:r>
              <a:t>🚨 The Communication Gap</a:t>
            </a:r>
            <a:br/>
          </a:p>
          <a:p>
            <a:pPr>
              <a:defRPr sz="1300">
                <a:solidFill>
                  <a:srgbClr val="F8FAFC"/>
                </a:solidFill>
              </a:defRPr>
            </a:pPr>
            <a:r>
              <a:t>• Working parents face 8-10 hours of informational blackout regarding their infants and toddlers.</a:t>
            </a:r>
            <a:br/>
          </a:p>
          <a:p>
            <a:pPr>
              <a:defRPr sz="1300">
                <a:solidFill>
                  <a:srgbClr val="F8FAFC"/>
                </a:solidFill>
              </a:defRPr>
            </a:pPr>
            <a:r>
              <a:t>• Unorganized chat groups (e.g. WhatsApp) compromise family privacy and cause message overload.</a:t>
            </a:r>
            <a:br/>
          </a:p>
          <a:p>
            <a:pPr>
              <a:defRPr sz="1300">
                <a:solidFill>
                  <a:srgbClr val="F8FAFC"/>
                </a:solidFill>
              </a:defRPr>
            </a:pPr>
            <a:r>
              <a:t>• Crucial updates on nutrition, naps, medications, and diaper changes are frequently delayed or forgotten.</a:t>
            </a:r>
            <a:br/>
          </a:p>
        </p:txBody>
      </p:sp>
      <p:sp>
        <p:nvSpPr>
          <p:cNvPr id="6" name="Rounded Rectangle 5"/>
          <p:cNvSpPr/>
          <p:nvPr/>
        </p:nvSpPr>
        <p:spPr>
          <a:xfrm>
            <a:off x="4425696"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 Manual Paper Logs</a:t>
            </a:r>
            <a:br/>
          </a:p>
          <a:p>
            <a:pPr>
              <a:defRPr sz="1300">
                <a:solidFill>
                  <a:srgbClr val="F8FAFC"/>
                </a:solidFill>
              </a:defRPr>
            </a:pPr>
            <a:r>
              <a:t>• Traditional daycares rely on paper sign-in registers, susceptible to fraud, lost sheets, and time-theft.</a:t>
            </a:r>
            <a:br/>
          </a:p>
          <a:p>
            <a:pPr>
              <a:defRPr sz="1300">
                <a:solidFill>
                  <a:srgbClr val="F8FAFC"/>
                </a:solidFill>
              </a:defRPr>
            </a:pPr>
            <a:r>
              <a:t>• Zero automated percentage tracking for monthly attendance and regulatory childcare compliance.</a:t>
            </a:r>
            <a:br/>
          </a:p>
          <a:p>
            <a:pPr>
              <a:defRPr sz="1300">
                <a:solidFill>
                  <a:srgbClr val="F8FAFC"/>
                </a:solidFill>
              </a:defRPr>
            </a:pPr>
            <a:r>
              <a:t>• Handwritten incident logs are difficult to audit, trace, or share during medical emergencies.</a:t>
            </a:r>
            <a:br/>
          </a:p>
        </p:txBody>
      </p:sp>
      <p:sp>
        <p:nvSpPr>
          <p:cNvPr id="7" name="Rounded Rectangle 6"/>
          <p:cNvSpPr/>
          <p:nvPr/>
        </p:nvSpPr>
        <p:spPr>
          <a:xfrm>
            <a:off x="8119872"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 Privacy &amp; Safety Risks</a:t>
            </a:r>
            <a:br/>
          </a:p>
          <a:p>
            <a:pPr>
              <a:defRPr sz="1300">
                <a:solidFill>
                  <a:srgbClr val="F8FAFC"/>
                </a:solidFill>
              </a:defRPr>
            </a:pPr>
            <a:r>
              <a:t>• Child photos and sensitive allergy data are shared indiscriminately in public messenger threads.</a:t>
            </a:r>
            <a:br/>
          </a:p>
          <a:p>
            <a:pPr>
              <a:defRPr sz="1300">
                <a:solidFill>
                  <a:srgbClr val="F8FAFC"/>
                </a:solidFill>
              </a:defRPr>
            </a:pPr>
            <a:r>
              <a:t>• No verified identity check during student drop-off and pickup by guardians.</a:t>
            </a:r>
            <a:br/>
          </a:p>
          <a:p>
            <a:pPr>
              <a:defRPr sz="1300">
                <a:solidFill>
                  <a:srgbClr val="F8FAFC"/>
                </a:solidFill>
              </a:defRPr>
            </a:pPr>
            <a:r>
              <a:t>• Unvetted educators or staff can access classroom data without centralized admin verification.</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2. ARCHITECTURAL OVERVIEW</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The Proposed Solution: Virtual Daycare Ecosystem</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Real-Time Activity Telemetry</a:t>
            </a:r>
          </a:p>
          <a:p>
            <a:br/>
            <a:pPr>
              <a:defRPr sz="1300">
                <a:solidFill>
                  <a:srgbClr val="F8FAFC"/>
                </a:solidFill>
              </a:defRPr>
            </a:pPr>
            <a:r>
              <a:t>Instant digital logging for meals, nap cycles, moods, diaper changes, and developmental milestones with instant parent timeline sync.</a:t>
            </a:r>
          </a:p>
        </p:txBody>
      </p:sp>
      <p:sp>
        <p:nvSpPr>
          <p:cNvPr id="6" name="Rounded Rectangle 5"/>
          <p:cNvSpPr/>
          <p:nvPr/>
        </p:nvSpPr>
        <p:spPr>
          <a:xfrm>
            <a:off x="6309360" y="164592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6366F1"/>
                </a:solidFill>
              </a:defRPr>
            </a:pPr>
            <a:r>
              <a:t>⚡ Daily Attendance Roster &amp; Analytics</a:t>
            </a:r>
          </a:p>
          <a:p>
            <a:br/>
            <a:pPr>
              <a:defRPr sz="1300">
                <a:solidFill>
                  <a:srgbClr val="F8FAFC"/>
                </a:solidFill>
              </a:defRPr>
            </a:pPr>
            <a:r>
              <a:t>Streamlined 1-click arrival check-in and pickup check-out with automated monthly percentage analytics.</a:t>
            </a:r>
          </a:p>
        </p:txBody>
      </p:sp>
      <p:sp>
        <p:nvSpPr>
          <p:cNvPr id="7" name="Rounded Rectangle 6"/>
          <p:cNvSpPr/>
          <p:nvPr/>
        </p:nvSpPr>
        <p:spPr>
          <a:xfrm>
            <a:off x="731520" y="411480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43F5E"/>
                </a:solidFill>
              </a:defRPr>
            </a:pPr>
            <a:r>
              <a:t>🛡️ Strict Multi-Tenant Child Isolation</a:t>
            </a:r>
          </a:p>
          <a:p>
            <a:br/>
            <a:pPr>
              <a:defRPr sz="1300">
                <a:solidFill>
                  <a:srgbClr val="F8FAFC"/>
                </a:solidFill>
              </a:defRPr>
            </a:pPr>
            <a:r>
              <a:t>Enforced RBAC decorators and object-level child authorization ensuring zero cross-tenant data visibility (403 Forbidden enforcement).</a:t>
            </a:r>
          </a:p>
        </p:txBody>
      </p:sp>
      <p:sp>
        <p:nvSpPr>
          <p:cNvPr id="8" name="Rounded Rectangle 7"/>
          <p:cNvSpPr/>
          <p:nvPr/>
        </p:nvSpPr>
        <p:spPr>
          <a:xfrm>
            <a:off x="6309360" y="411480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6B6D4"/>
                </a:solidFill>
              </a:defRPr>
            </a:pPr>
            <a:r>
              <a:t>🚨 Emergency Alert &amp; Learning Hub</a:t>
            </a:r>
          </a:p>
          <a:p>
            <a:br/>
            <a:pPr>
              <a:defRPr sz="1300">
                <a:solidFill>
                  <a:srgbClr val="F8FAFC"/>
                </a:solidFill>
              </a:defRPr>
            </a:pPr>
            <a:r>
              <a:t>High-priority medical/accident alerts with external SMS/Email notification hooks and an age-curated interactive early learning library.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3. SYSTEM DESIGN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Multi-Tier Software Architecture</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6366F1"/>
                </a:solidFill>
              </a:defRPr>
            </a:pPr>
            <a:r>
              <a:t>Layer 1: Client &amp; Presentation Tier</a:t>
            </a:r>
          </a:p>
          <a:p>
            <a:pPr>
              <a:defRPr sz="1200">
                <a:solidFill>
                  <a:srgbClr val="F8FAFC"/>
                </a:solidFill>
              </a:defRPr>
            </a:pPr>
            <a:r>
              <a:t>Responsive HTML5, Jinja2 Templates, Bootstrap 5, Bootstrap Icons, SocketIO Client, AJAX Hooks</a:t>
            </a:r>
          </a:p>
        </p:txBody>
      </p:sp>
      <p:sp>
        <p:nvSpPr>
          <p:cNvPr id="6" name="Rounded Rectangle 5"/>
          <p:cNvSpPr/>
          <p:nvPr/>
        </p:nvSpPr>
        <p:spPr>
          <a:xfrm>
            <a:off x="731520" y="2834640"/>
            <a:ext cx="10698480"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Layer 2: Application &amp; Real-Time Gateway</a:t>
            </a:r>
          </a:p>
          <a:p>
            <a:pPr>
              <a:defRPr sz="1200">
                <a:solidFill>
                  <a:srgbClr val="F8FAFC"/>
                </a:solidFill>
              </a:defRPr>
            </a:pPr>
            <a:r>
              <a:t>Flask 3.x Application Factory, WSGI Entry, Flask-SocketIO (WebSockets / Polling), Flask-Login Session Management</a:t>
            </a:r>
          </a:p>
        </p:txBody>
      </p:sp>
      <p:sp>
        <p:nvSpPr>
          <p:cNvPr id="7" name="Rounded Rectangle 6"/>
          <p:cNvSpPr/>
          <p:nvPr/>
        </p:nvSpPr>
        <p:spPr>
          <a:xfrm>
            <a:off x="731520" y="4023360"/>
            <a:ext cx="10698480"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Layer 3: Modular Domain Blueprints</a:t>
            </a:r>
          </a:p>
          <a:p>
            <a:pPr>
              <a:defRPr sz="1200">
                <a:solidFill>
                  <a:srgbClr val="F8FAFC"/>
                </a:solidFill>
              </a:defRPr>
            </a:pPr>
            <a:r>
              <a:t>Auth, Admin (Director), Caretaker (Roster), Parent (Timeline), Messages (Chat), Learning Hub, REST API (/api)</a:t>
            </a:r>
          </a:p>
        </p:txBody>
      </p:sp>
      <p:sp>
        <p:nvSpPr>
          <p:cNvPr id="8" name="Rounded Rectangle 7"/>
          <p:cNvSpPr/>
          <p:nvPr/>
        </p:nvSpPr>
        <p:spPr>
          <a:xfrm>
            <a:off x="731520" y="5212080"/>
            <a:ext cx="10698480"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Layer 4: Data &amp; Security Foundation</a:t>
            </a:r>
          </a:p>
          <a:p>
            <a:pPr>
              <a:defRPr sz="1200">
                <a:solidFill>
                  <a:srgbClr val="F8FAFC"/>
                </a:solidFill>
              </a:defRPr>
            </a:pPr>
            <a:r>
              <a:t>SQLAlchemy ORM, SQLite / PostgreSQL, Werkzeug Security, Notification Hooks, CSRF Protection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4. SECURITY &amp; USER ROLES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Role-Based Access Control (RBAC) &amp; Security Gatekeeper</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defRPr>
            </a:pPr>
            <a:r>
              <a:t>👑 Daycare Director (Admin)</a:t>
            </a:r>
            <a:br/>
          </a:p>
          <a:p>
            <a:pPr>
              <a:defRPr sz="1200">
                <a:solidFill>
                  <a:srgbClr val="F8FAFC"/>
                </a:solidFill>
              </a:defRPr>
            </a:pPr>
            <a:r>
              <a:t>✔ Full operational supervision &amp; center analytics.</a:t>
            </a:r>
            <a:br/>
          </a:p>
          <a:p>
            <a:pPr>
              <a:defRPr sz="1200">
                <a:solidFill>
                  <a:srgbClr val="F8FAFC"/>
                </a:solidFill>
              </a:defRPr>
            </a:pPr>
            <a:r>
              <a:t>✔ Caretaker verification workflow (approves or denies new educator accounts).</a:t>
            </a:r>
            <a:br/>
          </a:p>
          <a:p>
            <a:pPr>
              <a:defRPr sz="1200">
                <a:solidFill>
                  <a:srgbClr val="F8FAFC"/>
                </a:solidFill>
              </a:defRPr>
            </a:pPr>
            <a:r>
              <a:t>✔ Child enrollment &amp; caretaker assignment.</a:t>
            </a:r>
            <a:br/>
          </a:p>
          <a:p>
            <a:pPr>
              <a:defRPr sz="1200">
                <a:solidFill>
                  <a:srgbClr val="F8FAFC"/>
                </a:solidFill>
              </a:defRPr>
            </a:pPr>
            <a:r>
              <a:t>✔ Curriculum authoring in Learning Hub.</a:t>
            </a:r>
            <a:br/>
          </a:p>
          <a:p>
            <a:pPr>
              <a:defRPr sz="1200">
                <a:solidFill>
                  <a:srgbClr val="F8FAFC"/>
                </a:solidFill>
              </a:defRPr>
            </a:pPr>
            <a:r>
              <a:t>✔ Parent complaint and inquiry resolution.</a:t>
            </a:r>
            <a:br/>
          </a:p>
        </p:txBody>
      </p:sp>
      <p:sp>
        <p:nvSpPr>
          <p:cNvPr id="6" name="Rounded Rectangle 5"/>
          <p:cNvSpPr/>
          <p:nvPr/>
        </p:nvSpPr>
        <p:spPr>
          <a:xfrm>
            <a:off x="4425696"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Educator / Caretaker</a:t>
            </a:r>
            <a:br/>
          </a:p>
          <a:p>
            <a:pPr>
              <a:defRPr sz="1200">
                <a:solidFill>
                  <a:srgbClr val="F8FAFC"/>
                </a:solidFill>
              </a:defRPr>
            </a:pPr>
            <a:r>
              <a:t>✔ Gated access: blocked until Director approval.</a:t>
            </a:r>
            <a:br/>
          </a:p>
          <a:p>
            <a:pPr>
              <a:defRPr sz="1200">
                <a:solidFill>
                  <a:srgbClr val="F8FAFC"/>
                </a:solidFill>
              </a:defRPr>
            </a:pPr>
            <a:r>
              <a:t>✔ Access limited strictly to assigned classroom roster.</a:t>
            </a:r>
            <a:br/>
          </a:p>
          <a:p>
            <a:pPr>
              <a:defRPr sz="1200">
                <a:solidFill>
                  <a:srgbClr val="F8FAFC"/>
                </a:solidFill>
              </a:defRPr>
            </a:pPr>
            <a:r>
              <a:t>✔ Streamlined daily attendance check-in &amp; check-out roster.</a:t>
            </a:r>
            <a:br/>
          </a:p>
          <a:p>
            <a:pPr>
              <a:defRPr sz="1200">
                <a:solidFill>
                  <a:srgbClr val="F8FAFC"/>
                </a:solidFill>
              </a:defRPr>
            </a:pPr>
            <a:r>
              <a:t>✔ Multi-category activity logging (meals, naps, etc.).</a:t>
            </a:r>
            <a:br/>
          </a:p>
          <a:p>
            <a:pPr>
              <a:defRPr sz="1200">
                <a:solidFill>
                  <a:srgbClr val="F8FAFC"/>
                </a:solidFill>
              </a:defRPr>
            </a:pPr>
            <a:r>
              <a:t>✔ Broadcast high-priority emergency alerts.</a:t>
            </a:r>
            <a:br/>
          </a:p>
        </p:txBody>
      </p:sp>
      <p:sp>
        <p:nvSpPr>
          <p:cNvPr id="7" name="Rounded Rectangle 6"/>
          <p:cNvSpPr/>
          <p:nvPr/>
        </p:nvSpPr>
        <p:spPr>
          <a:xfrm>
            <a:off x="8119872"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6366F1"/>
                </a:solidFill>
              </a:defRPr>
            </a:pPr>
            <a:r>
              <a:t>👨‍👩‍👧 Parent / Guardian</a:t>
            </a:r>
            <a:br/>
          </a:p>
          <a:p>
            <a:pPr>
              <a:defRPr sz="1200">
                <a:solidFill>
                  <a:srgbClr val="F8FAFC"/>
                </a:solidFill>
              </a:defRPr>
            </a:pPr>
            <a:r>
              <a:t>✔ Strict tenant isolation: access only to own children.</a:t>
            </a:r>
            <a:br/>
          </a:p>
          <a:p>
            <a:pPr>
              <a:defRPr sz="1200">
                <a:solidFill>
                  <a:srgbClr val="F8FAFC"/>
                </a:solidFill>
              </a:defRPr>
            </a:pPr>
            <a:r>
              <a:t>✔ Real-time synchronized activity timeline.</a:t>
            </a:r>
            <a:br/>
          </a:p>
          <a:p>
            <a:pPr>
              <a:defRPr sz="1200">
                <a:solidFill>
                  <a:srgbClr val="F8FAFC"/>
                </a:solidFill>
              </a:defRPr>
            </a:pPr>
            <a:r>
              <a:t>✔ Private child photo gallery &amp; historical filters.</a:t>
            </a:r>
            <a:br/>
          </a:p>
          <a:p>
            <a:pPr>
              <a:defRPr sz="1200">
                <a:solidFill>
                  <a:srgbClr val="F8FAFC"/>
                </a:solidFill>
              </a:defRPr>
            </a:pPr>
            <a:r>
              <a:t>✔ Attendance history and monthly compliance tracking.</a:t>
            </a:r>
            <a:br/>
          </a:p>
          <a:p>
            <a:pPr>
              <a:defRPr sz="1200">
                <a:solidFill>
                  <a:srgbClr val="F8FAFC"/>
                </a:solidFill>
              </a:defRPr>
            </a:pPr>
            <a:r>
              <a:t>✔ Two-way private chat with assigned caretaker.</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5. CORE INNOVATION 1</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Daily Attendance Roster &amp; Compliance Engine</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 1-Click Roster Check-In &amp; Check-Out Flow</a:t>
            </a:r>
          </a:p>
          <a:p>
            <a:br/>
            <a:pPr>
              <a:defRPr sz="1200">
                <a:solidFill>
                  <a:srgbClr val="F8FAFC"/>
                </a:solidFill>
              </a:defRPr>
            </a:pPr>
            <a:r>
              <a:t>1. Classroom Roster View: Caretakers access an organized daily view of all assigned children.</a:t>
            </a:r>
          </a:p>
          <a:p>
            <a:br/>
            <a:pPr>
              <a:defRPr sz="1200">
                <a:solidFill>
                  <a:srgbClr val="F8FAFC"/>
                </a:solidFill>
              </a:defRPr>
            </a:pPr>
            <a:r>
              <a:t>2. 1-Click Check-In: Instant single-click arrival mark logs precise UTC timestamp and marks child Present.</a:t>
            </a:r>
          </a:p>
          <a:p>
            <a:br/>
            <a:pPr>
              <a:defRPr sz="1200">
                <a:solidFill>
                  <a:srgbClr val="F8FAFC"/>
                </a:solidFill>
              </a:defRPr>
            </a:pPr>
            <a:r>
              <a:t>3. Evening Check-Out: Pick-up recorded with single click, calculating exact daycare duration.</a:t>
            </a:r>
          </a:p>
          <a:p>
            <a:br/>
            <a:pPr>
              <a:defRPr sz="1200">
                <a:solidFill>
                  <a:srgbClr val="F8FAFC"/>
                </a:solidFill>
              </a:defRPr>
            </a:pPr>
            <a:r>
              <a:t>4. Absence &amp; Custom Notes: Record verified absence or arrival notes with complete staff accountability.</a:t>
            </a:r>
          </a:p>
          <a:p>
            <a:br/>
            <a:pPr>
              <a:defRPr sz="1200">
                <a:solidFill>
                  <a:srgbClr val="F8FAFC"/>
                </a:solidFill>
              </a:defRPr>
            </a:pPr>
            <a:r>
              <a:t>5. Automated Notification: Parents receive real-time push notification the moment attendance is marked.</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6366F1"/>
                </a:solidFill>
              </a:defRPr>
            </a:pPr>
            <a:r>
              <a:t>📊 Automated Analytics &amp; Value</a:t>
            </a:r>
          </a:p>
          <a:p>
            <a:br/>
            <a:pPr>
              <a:defRPr sz="1200">
                <a:solidFill>
                  <a:srgbClr val="F8FAFC"/>
                </a:solidFill>
              </a:defRPr>
            </a:pPr>
            <a:r>
              <a:t>✔ Eliminates Manual Inefficiencies: Zero paper sign-in queues, no handwriting legibility errors.</a:t>
            </a:r>
          </a:p>
          <a:p>
            <a:br/>
            <a:pPr>
              <a:defRPr sz="1200">
                <a:solidFill>
                  <a:srgbClr val="F8FAFC"/>
                </a:solidFill>
              </a:defRPr>
            </a:pPr>
            <a:r>
              <a:t>✔ Audit-Proof Timestamps: Precise UTC check-in and check-out logs stored securely in the database.</a:t>
            </a:r>
          </a:p>
          <a:p>
            <a:br/>
            <a:pPr>
              <a:defRPr sz="1200">
                <a:solidFill>
                  <a:srgbClr val="F8FAFC"/>
                </a:solidFill>
              </a:defRPr>
            </a:pPr>
            <a:r>
              <a:t>✔ Monthly Percentage Computation: Dynamically counts actual weekdays in the month vs. attended days via 'get_monthly_attendance_stats()'.</a:t>
            </a:r>
          </a:p>
          <a:p>
            <a:br/>
            <a:pPr>
              <a:defRPr sz="1200">
                <a:solidFill>
                  <a:srgbClr val="F8FAFC"/>
                </a:solidFill>
              </a:defRPr>
            </a:pPr>
            <a:r>
              <a:t>✔ Instant Parent Notifications: SocketIO alerts parents the exact second their child enters or leaves the center.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6. CORE INNOVATION 2</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Real-Time Activity Telemetry &amp; Daily Logging</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 Nutrition &amp; Meals</a:t>
            </a:r>
          </a:p>
          <a:p>
            <a:br/>
            <a:pPr>
              <a:defRPr sz="1150">
                <a:solidFill>
                  <a:srgbClr val="F8FAFC"/>
                </a:solidFill>
              </a:defRPr>
            </a:pPr>
            <a:r>
              <a:t>Breakfast, Lunch, Snacks, Fluid Intake, Portions consumed (All, Half, Picky)</a:t>
            </a:r>
          </a:p>
        </p:txBody>
      </p:sp>
      <p:sp>
        <p:nvSpPr>
          <p:cNvPr id="6" name="Rounded Rectangle 5"/>
          <p:cNvSpPr/>
          <p:nvPr/>
        </p:nvSpPr>
        <p:spPr>
          <a:xfrm>
            <a:off x="4343400" y="164592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6366F1"/>
                </a:solidFill>
              </a:defRPr>
            </a:pPr>
            <a:r>
              <a:t>😴 Nap &amp; Sleep Cycles</a:t>
            </a:r>
          </a:p>
          <a:p>
            <a:br/>
            <a:pPr>
              <a:defRPr sz="1150">
                <a:solidFill>
                  <a:srgbClr val="F8FAFC"/>
                </a:solidFill>
              </a:defRPr>
            </a:pPr>
            <a:r>
              <a:t>Sleep start time, wake time, duration calculation, sleep quality rating</a:t>
            </a:r>
          </a:p>
        </p:txBody>
      </p:sp>
      <p:sp>
        <p:nvSpPr>
          <p:cNvPr id="7" name="Rounded Rectangle 6"/>
          <p:cNvSpPr/>
          <p:nvPr/>
        </p:nvSpPr>
        <p:spPr>
          <a:xfrm>
            <a:off x="7955280" y="164592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 Mood &amp; Behavior</a:t>
            </a:r>
          </a:p>
          <a:p>
            <a:br/>
            <a:pPr>
              <a:defRPr sz="1150">
                <a:solidFill>
                  <a:srgbClr val="F8FAFC"/>
                </a:solidFill>
              </a:defRPr>
            </a:pPr>
            <a:r>
              <a:t>Cheerful, Playful, Calm, Sensitive, Fussy with teacher contextual observations</a:t>
            </a:r>
          </a:p>
        </p:txBody>
      </p:sp>
      <p:sp>
        <p:nvSpPr>
          <p:cNvPr id="8" name="Rounded Rectangle 7"/>
          <p:cNvSpPr/>
          <p:nvPr/>
        </p:nvSpPr>
        <p:spPr>
          <a:xfrm>
            <a:off x="731520" y="388620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6B6D4"/>
                </a:solidFill>
              </a:defRPr>
            </a:pPr>
            <a:r>
              <a:t>🧷 Diaper &amp; Hygiene</a:t>
            </a:r>
          </a:p>
          <a:p>
            <a:br/>
            <a:pPr>
              <a:defRPr sz="1150">
                <a:solidFill>
                  <a:srgbClr val="F8FAFC"/>
                </a:solidFill>
              </a:defRPr>
            </a:pPr>
            <a:r>
              <a:t>Wet, Dirty, Dry diaper changes, Potty training milestones, barrier cream notes</a:t>
            </a:r>
          </a:p>
        </p:txBody>
      </p:sp>
      <p:sp>
        <p:nvSpPr>
          <p:cNvPr id="9" name="Rounded Rectangle 8"/>
          <p:cNvSpPr/>
          <p:nvPr/>
        </p:nvSpPr>
        <p:spPr>
          <a:xfrm>
            <a:off x="4343400" y="388620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43F5E"/>
                </a:solidFill>
              </a:defRPr>
            </a:pPr>
            <a:r>
              <a:t>🌟 Developmental Milestones</a:t>
            </a:r>
          </a:p>
          <a:p>
            <a:br/>
            <a:pPr>
              <a:defRPr sz="1150">
                <a:solidFill>
                  <a:srgbClr val="F8FAFC"/>
                </a:solidFill>
              </a:defRPr>
            </a:pPr>
            <a:r>
              <a:t>First steps, social sharing, verbal advances, creative artwork achievements</a:t>
            </a:r>
          </a:p>
        </p:txBody>
      </p:sp>
      <p:sp>
        <p:nvSpPr>
          <p:cNvPr id="10" name="Rounded Rectangle 9"/>
          <p:cNvSpPr/>
          <p:nvPr/>
        </p:nvSpPr>
        <p:spPr>
          <a:xfrm>
            <a:off x="7955280" y="3886200"/>
            <a:ext cx="338328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8FAFC"/>
                </a:solidFill>
              </a:defRPr>
            </a:pPr>
            <a:r>
              <a:t>📝 General Educator Notes</a:t>
            </a:r>
          </a:p>
          <a:p>
            <a:br/>
            <a:pPr>
              <a:defRPr sz="1150">
                <a:solidFill>
                  <a:srgbClr val="F8FAFC"/>
                </a:solidFill>
              </a:defRPr>
            </a:pPr>
            <a:r>
              <a:t>Special requests, clothing changes, medication administration updates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7. CORE INNOVATION 3</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Real-Time WebSockets &amp; Emergency Broadcast Dispatch</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6366F1"/>
                </a:solidFill>
              </a:defRPr>
            </a:pPr>
            <a:r>
              <a:t>⚡ WebSocket Event Infrastructure</a:t>
            </a:r>
          </a:p>
          <a:p>
            <a:br/>
            <a:pPr>
              <a:defRPr sz="1200">
                <a:solidFill>
                  <a:srgbClr val="F8FAFC"/>
                </a:solidFill>
              </a:defRPr>
            </a:pPr>
            <a:r>
              <a:t>• Powered by Flask-SocketIO with Socket.IO client library.</a:t>
            </a:r>
          </a:p>
          <a:p>
            <a:br/>
            <a:pPr>
              <a:defRPr sz="1200">
                <a:solidFill>
                  <a:srgbClr val="F8FAFC"/>
                </a:solidFill>
              </a:defRPr>
            </a:pPr>
            <a:r>
              <a:t>• Targeted User Rooms: 'user_{user_id}' enables instantaneous delivery of unread notification bell increments.</a:t>
            </a:r>
          </a:p>
          <a:p>
            <a:br/>
            <a:pPr>
              <a:defRPr sz="1200">
                <a:solidFill>
                  <a:srgbClr val="F8FAFC"/>
                </a:solidFill>
              </a:defRPr>
            </a:pPr>
            <a:r>
              <a:t>• Scoped Child Chat Rooms: 'child_{child_id}' isolates two-way parent-caregiver messaging threads.</a:t>
            </a:r>
          </a:p>
          <a:p>
            <a:br/>
            <a:pPr>
              <a:defRPr sz="1200">
                <a:solidFill>
                  <a:srgbClr val="F8FAFC"/>
                </a:solidFill>
              </a:defRPr>
            </a:pPr>
            <a:r>
              <a:t>• Resilient Fallback: Built-in AJAX polling endpoints (/api/notifications/unread and /api/messages/&lt;id&gt;) ensure zero failure on restricted networks.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43F5E"/>
                </a:solidFill>
              </a:defRPr>
            </a:pPr>
            <a:r>
              <a:t>🚨 Critical Incident Response System</a:t>
            </a:r>
          </a:p>
          <a:p>
            <a:br/>
            <a:pPr>
              <a:defRPr sz="1200">
                <a:solidFill>
                  <a:srgbClr val="F8FAFC"/>
                </a:solidFill>
              </a:defRPr>
            </a:pPr>
            <a:r>
              <a:t>• Priority Alert Flagging: Educators can trigger instant emergency alerts for fevers, accidents, or urgent medication needs.</a:t>
            </a:r>
          </a:p>
          <a:p>
            <a:br/>
            <a:pPr>
              <a:defRPr sz="1200">
                <a:solidFill>
                  <a:srgbClr val="F8FAFC"/>
                </a:solidFill>
              </a:defRPr>
            </a:pPr>
            <a:r>
              <a:t>• Persistent Warning Banners: Emits a high-visibility warning banner directly across the parent dashboard.</a:t>
            </a:r>
          </a:p>
          <a:p>
            <a:br/>
            <a:pPr>
              <a:defRPr sz="1200">
                <a:solidFill>
                  <a:srgbClr val="F8FAFC"/>
                </a:solidFill>
              </a:defRPr>
            </a:pPr>
            <a:r>
              <a:t>• Multi-Channel Dispatch Hooks: Integrated with 'notifications.py' featuring ready-to-wire Twilio SMS and SendGrid Email dispatchers.</a:t>
            </a:r>
          </a:p>
          <a:p>
            <a:br/>
            <a:pPr>
              <a:defRPr sz="1200">
                <a:solidFill>
                  <a:srgbClr val="F8FAFC"/>
                </a:solidFill>
              </a:defRPr>
            </a:pPr>
            <a:r>
              <a:t>• Immediate Actionability: Includes 1-click caregiver calling and medical advisory acknowledgments.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8. CURRICULUM MODULE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Interactive Early Childhood Learning Hub</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6B6D4"/>
                </a:solidFill>
              </a:defRPr>
            </a:pPr>
            <a:r>
              <a:t>👶 Infant Track (0 - 1 yr)</a:t>
            </a:r>
            <a:br/>
          </a:p>
          <a:p>
            <a:br/>
            <a:pPr>
              <a:defRPr sz="1300">
                <a:solidFill>
                  <a:srgbClr val="F8FAFC"/>
                </a:solidFill>
              </a:defRPr>
            </a:pPr>
            <a:r>
              <a:t>Sensory tracking activities, lullabies, high-contrast visual cues, and gentle motor movement exercises designed for early neural development.</a:t>
            </a:r>
            <a:br/>
            <a:br/>
          </a:p>
          <a:p>
            <a:pPr>
              <a:defRPr sz="1200">
                <a:solidFill>
                  <a:srgbClr val="94A3B8"/>
                </a:solidFill>
              </a:defRPr>
            </a:pPr>
            <a:r>
              <a:t>Features:</a:t>
            </a:r>
            <a:br/>
            <a:r>
              <a:t>• Immersive Reading Mode</a:t>
            </a:r>
            <a:br/>
            <a:r>
              <a:t>• Audio/Video Embed Support</a:t>
            </a:r>
            <a:br/>
            <a:r>
              <a:t>• Director Curriculum CMS</a:t>
            </a:r>
            <a:br/>
            <a:r>
              <a:t>• Age-Filtered Search</a:t>
            </a:r>
          </a:p>
        </p:txBody>
      </p:sp>
      <p:sp>
        <p:nvSpPr>
          <p:cNvPr id="6" name="Rounded Rectangle 5"/>
          <p:cNvSpPr/>
          <p:nvPr/>
        </p:nvSpPr>
        <p:spPr>
          <a:xfrm>
            <a:off x="4343400"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defRPr>
            </a:pPr>
            <a:r>
              <a:t>🧸 Toddler Track (1 - 3 yrs)</a:t>
            </a:r>
            <a:br/>
          </a:p>
          <a:p>
            <a:br/>
            <a:pPr>
              <a:defRPr sz="1300">
                <a:solidFill>
                  <a:srgbClr val="F8FAFC"/>
                </a:solidFill>
              </a:defRPr>
            </a:pPr>
            <a:r>
              <a:t>Interactive rhymes (Itsy Bitsy Spider, Wheels on the Bus), tactile color sorting, animal sound recognition, and cooperative play.</a:t>
            </a:r>
            <a:br/>
            <a:br/>
          </a:p>
          <a:p>
            <a:pPr>
              <a:defRPr sz="1200">
                <a:solidFill>
                  <a:srgbClr val="94A3B8"/>
                </a:solidFill>
              </a:defRPr>
            </a:pPr>
            <a:r>
              <a:t>Features:</a:t>
            </a:r>
            <a:br/>
            <a:r>
              <a:t>• Immersive Reading Mode</a:t>
            </a:r>
            <a:br/>
            <a:r>
              <a:t>• Audio/Video Embed Support</a:t>
            </a:r>
            <a:br/>
            <a:r>
              <a:t>• Director Curriculum CMS</a:t>
            </a:r>
            <a:br/>
            <a:r>
              <a:t>• Age-Filtered Search</a:t>
            </a:r>
          </a:p>
        </p:txBody>
      </p:sp>
      <p:sp>
        <p:nvSpPr>
          <p:cNvPr id="7" name="Rounded Rectangle 6"/>
          <p:cNvSpPr/>
          <p:nvPr/>
        </p:nvSpPr>
        <p:spPr>
          <a:xfrm>
            <a:off x="7955279"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Preschool Track (3 - 5 yrs)</a:t>
            </a:r>
            <a:br/>
          </a:p>
          <a:p>
            <a:br/>
            <a:pPr>
              <a:defRPr sz="1300">
                <a:solidFill>
                  <a:srgbClr val="F8FAFC"/>
                </a:solidFill>
              </a:defRPr>
            </a:pPr>
            <a:r>
              <a:t>Phonics storytelling, basic counting, social-emotional learning, kindergarten readiness modules, and fine-motor craft guides.</a:t>
            </a:r>
            <a:br/>
            <a:br/>
          </a:p>
          <a:p>
            <a:pPr>
              <a:defRPr sz="1200">
                <a:solidFill>
                  <a:srgbClr val="94A3B8"/>
                </a:solidFill>
              </a:defRPr>
            </a:pPr>
            <a:r>
              <a:t>Features:</a:t>
            </a:r>
            <a:br/>
            <a:r>
              <a:t>• Immersive Reading Mode</a:t>
            </a:r>
            <a:br/>
            <a:r>
              <a:t>• Audio/Video Embed Support</a:t>
            </a:r>
            <a:br/>
            <a:r>
              <a:t>• Director Curriculum CMS</a:t>
            </a:r>
            <a:br/>
            <a:r>
              <a:t>• Age-Filtered 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9. DATA ARCHITECTURE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Relational Database Schema &amp; Data Models</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6366F1"/>
                </a:solidFill>
              </a:defRPr>
            </a:pPr>
            <a:r>
              <a:t>User &amp; Child Entities</a:t>
            </a:r>
            <a:br/>
          </a:p>
          <a:p>
            <a:pPr>
              <a:defRPr sz="1200">
                <a:solidFill>
                  <a:srgbClr val="F8FAFC"/>
                </a:solidFill>
              </a:defRPr>
            </a:pPr>
            <a:r>
              <a:t>• User: id, email, password_hash, name, role ('admin'|'caregiver'|'parent'), is_approved, phone.</a:t>
            </a:r>
            <a:br/>
          </a:p>
          <a:p>
            <a:pPr>
              <a:defRPr sz="1200">
                <a:solidFill>
                  <a:srgbClr val="F8FAFC"/>
                </a:solidFill>
              </a:defRPr>
            </a:pPr>
            <a:r>
              <a:t>• Child: id, name, dob, gender, allergies, notes, photo_url, qr_code_path.</a:t>
            </a:r>
            <a:br/>
          </a:p>
          <a:p>
            <a:pPr>
              <a:defRPr sz="1200">
                <a:solidFill>
                  <a:srgbClr val="F8FAFC"/>
                </a:solidFill>
              </a:defRPr>
            </a:pPr>
            <a:r>
              <a:t>• Relationships: Foreign keys linking parent_id and caregiver_id with cascade deletion.</a:t>
            </a:r>
            <a:br/>
          </a:p>
        </p:txBody>
      </p:sp>
      <p:sp>
        <p:nvSpPr>
          <p:cNvPr id="6" name="Rounded Rectangle 5"/>
          <p:cNvSpPr/>
          <p:nvPr/>
        </p:nvSpPr>
        <p:spPr>
          <a:xfrm>
            <a:off x="4425696"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Activity &amp; Attendance</a:t>
            </a:r>
            <a:br/>
          </a:p>
          <a:p>
            <a:pPr>
              <a:defRPr sz="1200">
                <a:solidFill>
                  <a:srgbClr val="F8FAFC"/>
                </a:solidFill>
              </a:defRPr>
            </a:pPr>
            <a:r>
              <a:t>• ActivityLog: id, child_id, type ('meal'|'nap'|'mood'|'diaper'|'note'|'milestone'), title, details, logged_by, timestamp.</a:t>
            </a:r>
            <a:br/>
          </a:p>
          <a:p>
            <a:pPr>
              <a:defRPr sz="1200">
                <a:solidFill>
                  <a:srgbClr val="F8FAFC"/>
                </a:solidFill>
              </a:defRPr>
            </a:pPr>
            <a:r>
              <a:t>• Attendance: id, child_id, date, status ('present'|'absent'|'late'), check_in_time, check_out_time, marked_by.</a:t>
            </a:r>
            <a:br/>
          </a:p>
        </p:txBody>
      </p:sp>
      <p:sp>
        <p:nvSpPr>
          <p:cNvPr id="7" name="Rounded Rectangle 6"/>
          <p:cNvSpPr/>
          <p:nvPr/>
        </p:nvSpPr>
        <p:spPr>
          <a:xfrm>
            <a:off x="8119872" y="1645920"/>
            <a:ext cx="3328416"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6B6D4"/>
                </a:solidFill>
              </a:defRPr>
            </a:pPr>
            <a:r>
              <a:t>Communications &amp; Learning</a:t>
            </a:r>
            <a:br/>
          </a:p>
          <a:p>
            <a:pPr>
              <a:defRPr sz="1200">
                <a:solidFill>
                  <a:srgbClr val="F8FAFC"/>
                </a:solidFill>
              </a:defRPr>
            </a:pPr>
            <a:r>
              <a:t>• Message: id, child_id, sender_id, receiver_id, content, is_alert, alert_severity, timestamp, is_read.</a:t>
            </a:r>
            <a:br/>
          </a:p>
          <a:p>
            <a:pPr>
              <a:defRPr sz="1200">
                <a:solidFill>
                  <a:srgbClr val="F8FAFC"/>
                </a:solidFill>
              </a:defRPr>
            </a:pPr>
            <a:r>
              <a:t>• Notification: id, user_id, title, message, link, is_urgent, is_read.</a:t>
            </a:r>
            <a:br/>
          </a:p>
          <a:p>
            <a:pPr>
              <a:defRPr sz="1200">
                <a:solidFill>
                  <a:srgbClr val="F8FAFC"/>
                </a:solidFill>
              </a:defRPr>
            </a:pPr>
            <a:r>
              <a:t>• LearningResource: id, title, type, age_group, description, content_url_or_text.</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10. SECURITY &amp; COMPLIANCE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Security Architecture &amp; Privacy Enforcement</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43F5E"/>
                </a:solidFill>
              </a:defRPr>
            </a:pPr>
            <a:r>
              <a:t>🔐 Object-Level Tenant Isolation</a:t>
            </a:r>
          </a:p>
          <a:p>
            <a:br/>
            <a:pPr>
              <a:defRPr sz="1200">
                <a:solidFill>
                  <a:srgbClr val="F8FAFC"/>
                </a:solidFill>
              </a:defRPr>
            </a:pPr>
            <a:r>
              <a:t>Enforced via 'get_authorized_child()'. Every request strictly verifies whether the authenticated user owns or is assigned to the requested child ID. Unauthorized attempts trigger HTTP 403 Forbidden.</a:t>
            </a:r>
          </a:p>
        </p:txBody>
      </p:sp>
      <p:sp>
        <p:nvSpPr>
          <p:cNvPr id="6" name="Rounded Rectangle 5"/>
          <p:cNvSpPr/>
          <p:nvPr/>
        </p:nvSpPr>
        <p:spPr>
          <a:xfrm>
            <a:off x="6309360" y="164592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Gatekeeper Decorators</a:t>
            </a:r>
          </a:p>
          <a:p>
            <a:br/>
            <a:pPr>
              <a:defRPr sz="1200">
                <a:solidFill>
                  <a:srgbClr val="F8FAFC"/>
                </a:solidFill>
              </a:defRPr>
            </a:pPr>
            <a:r>
              <a:t>Custom '@role_required(*roles)' decorator inspects current_user credentials. Caregiver accounts are permanently blocked from accessing child data until verified and approved by the Director.</a:t>
            </a:r>
          </a:p>
        </p:txBody>
      </p:sp>
      <p:sp>
        <p:nvSpPr>
          <p:cNvPr id="7" name="Rounded Rectangle 6"/>
          <p:cNvSpPr/>
          <p:nvPr/>
        </p:nvSpPr>
        <p:spPr>
          <a:xfrm>
            <a:off x="731520" y="411480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Cryptographic Credential Hashing</a:t>
            </a:r>
          </a:p>
          <a:p>
            <a:br/>
            <a:pPr>
              <a:defRPr sz="1200">
                <a:solidFill>
                  <a:srgbClr val="F8FAFC"/>
                </a:solidFill>
              </a:defRPr>
            </a:pPr>
            <a:r>
              <a:t>Zero plaintext passwords. Uses PBKDF2/SHA-256 via Werkzeug's 'generate_password_hash' and 'check_password_hash' with salt protection against rainbow table attacks.</a:t>
            </a:r>
          </a:p>
        </p:txBody>
      </p:sp>
      <p:sp>
        <p:nvSpPr>
          <p:cNvPr id="8" name="Rounded Rectangle 7"/>
          <p:cNvSpPr/>
          <p:nvPr/>
        </p:nvSpPr>
        <p:spPr>
          <a:xfrm>
            <a:off x="6309360" y="411480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Secure File Upload Sanitization</a:t>
            </a:r>
          </a:p>
          <a:p>
            <a:br/>
            <a:pPr>
              <a:defRPr sz="1200">
                <a:solidFill>
                  <a:srgbClr val="F8FAFC"/>
                </a:solidFill>
              </a:defRPr>
            </a:pPr>
            <a:r>
              <a:t>Uploaded photos are renamed with random UUIDv4 strings and sanitized via 'secure_filename'. Restricts extensions strictly to valid image formats to prevent remote code execution (RCE).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11. QUALITY ASSURANCE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Verification &amp; Automated Test Suite (8/8 Suites)</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 Test Execution (test_daycare.py)</a:t>
            </a:r>
          </a:p>
          <a:p>
            <a:br/>
            <a:pPr>
              <a:defRPr sz="1200">
                <a:solidFill>
                  <a:srgbClr val="F8FAFC"/>
                </a:solidFill>
              </a:defRPr>
            </a:pPr>
            <a:r>
              <a:t>✔ 1. Landing &amp; Role Redirect: Verifies authentication routing for admin, caregiver, parent.</a:t>
            </a:r>
          </a:p>
          <a:p>
            <a:br/>
            <a:pPr>
              <a:defRPr sz="1200">
                <a:solidFill>
                  <a:srgbClr val="F8FAFC"/>
                </a:solidFill>
              </a:defRPr>
            </a:pPr>
            <a:r>
              <a:t>✔ 2. Caregiver Approval Flow: Tests blocker on unapproved caregivers and Director approval.</a:t>
            </a:r>
          </a:p>
          <a:p>
            <a:br/>
            <a:pPr>
              <a:defRPr sz="1200">
                <a:solidFill>
                  <a:srgbClr val="F8FAFC"/>
                </a:solidFill>
              </a:defRPr>
            </a:pPr>
            <a:r>
              <a:t>✔ 3. Activity Logging Sync: Validates educator log persistence and parent timeline visibility.</a:t>
            </a:r>
          </a:p>
          <a:p>
            <a:br/>
            <a:pPr>
              <a:defRPr sz="1200">
                <a:solidFill>
                  <a:srgbClr val="F8FAFC"/>
                </a:solidFill>
              </a:defRPr>
            </a:pPr>
            <a:r>
              <a:t>✔ 4. Strict Child Data Isolation: Asserts 403 Forbidden when parents attempt to access unauthorized child IDs.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6366F1"/>
                </a:solidFill>
              </a:defRPr>
            </a:pPr>
            <a:r>
              <a:t>🔬 Advanced Flow Verification</a:t>
            </a:r>
          </a:p>
          <a:p>
            <a:br/>
            <a:pPr>
              <a:defRPr sz="1200">
                <a:solidFill>
                  <a:srgbClr val="F8FAFC"/>
                </a:solidFill>
              </a:defRPr>
            </a:pPr>
            <a:r>
              <a:t>✔ 5. Emergency Alert Dispatch: Verifies high-priority alert generation and banner rendering.</a:t>
            </a:r>
          </a:p>
          <a:p>
            <a:br/>
            <a:pPr>
              <a:defRPr sz="1200">
                <a:solidFill>
                  <a:srgbClr val="F8FAFC"/>
                </a:solidFill>
              </a:defRPr>
            </a:pPr>
            <a:r>
              <a:t>✔ 6. Daily Attendance Roster: Tests 1-click check-in and check-out state transition and roster updates.</a:t>
            </a:r>
          </a:p>
          <a:p>
            <a:br/>
            <a:pPr>
              <a:defRPr sz="1200">
                <a:solidFill>
                  <a:srgbClr val="F8FAFC"/>
                </a:solidFill>
              </a:defRPr>
            </a:pPr>
            <a:r>
              <a:t>✔ 7. Learning Module Inspection: Verifies age-filtered curriculum rendering and reading mode.</a:t>
            </a:r>
          </a:p>
          <a:p>
            <a:br/>
            <a:pPr>
              <a:defRPr sz="1200">
                <a:solidFill>
                  <a:srgbClr val="F8FAFC"/>
                </a:solidFill>
              </a:defRPr>
            </a:pPr>
            <a:r>
              <a:t>✔ 8. Password Reset Flow: Validates secure reset token generation and credential updates.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12. DEPLOYMENT &amp; DEVOPS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Deployment Architecture &amp; Production Engineering</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6366F1"/>
                </a:solidFill>
              </a:defRPr>
            </a:pPr>
            <a:r>
              <a:t>🚀 WSGI Server / Gunicorn</a:t>
            </a:r>
          </a:p>
          <a:p>
            <a:br/>
            <a:pPr>
              <a:defRPr sz="1200">
                <a:solidFill>
                  <a:srgbClr val="F8FAFC"/>
                </a:solidFill>
              </a:defRPr>
            </a:pPr>
            <a:r>
              <a:t>Configured with 'wsgi.py' and Gunicorn runner for multi-worker concurrency on Linux and container environments.</a:t>
            </a:r>
          </a:p>
        </p:txBody>
      </p:sp>
      <p:sp>
        <p:nvSpPr>
          <p:cNvPr id="6" name="Rounded Rectangle 5"/>
          <p:cNvSpPr/>
          <p:nvPr/>
        </p:nvSpPr>
        <p:spPr>
          <a:xfrm>
            <a:off x="6309360" y="1645920"/>
            <a:ext cx="512064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Cloud PaaS Ready</a:t>
            </a:r>
          </a:p>
          <a:p>
            <a:br/>
            <a:pPr>
              <a:defRPr sz="1200">
                <a:solidFill>
                  <a:srgbClr val="F8FAFC"/>
                </a:solidFill>
              </a:defRPr>
            </a:pPr>
            <a:r>
              <a:t>Includes cloud-native 'Procfile' for 1-click deployment on platforms like Render, Railway, AWS ECS, or Heroku.</a:t>
            </a:r>
          </a:p>
        </p:txBody>
      </p:sp>
      <p:sp>
        <p:nvSpPr>
          <p:cNvPr id="7" name="Rounded Rectangle 6"/>
          <p:cNvSpPr/>
          <p:nvPr/>
        </p:nvSpPr>
        <p:spPr>
          <a:xfrm>
            <a:off x="731520" y="3886200"/>
            <a:ext cx="512064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12-Factor App Config</a:t>
            </a:r>
          </a:p>
          <a:p>
            <a:br/>
            <a:pPr>
              <a:defRPr sz="1200">
                <a:solidFill>
                  <a:srgbClr val="F8FAFC"/>
                </a:solidFill>
              </a:defRPr>
            </a:pPr>
            <a:r>
              <a:t>Complete segregation of config and secrets via '.env' and 'python-dotenv'. Zero hardcoded credentials.</a:t>
            </a:r>
          </a:p>
        </p:txBody>
      </p:sp>
      <p:sp>
        <p:nvSpPr>
          <p:cNvPr id="8" name="Rounded Rectangle 7"/>
          <p:cNvSpPr/>
          <p:nvPr/>
        </p:nvSpPr>
        <p:spPr>
          <a:xfrm>
            <a:off x="6309360" y="3886200"/>
            <a:ext cx="5120640" cy="2057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Database Portability</a:t>
            </a:r>
          </a:p>
          <a:p>
            <a:br/>
            <a:pPr>
              <a:defRPr sz="1200">
                <a:solidFill>
                  <a:srgbClr val="F8FAFC"/>
                </a:solidFill>
              </a:defRPr>
            </a:pPr>
            <a:r>
              <a:t>Zero-lock-in architecture: seamlessly toggle between SQLite for local dev/testing and PostgreSQL for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10B981"/>
                </a:solidFill>
              </a:defRPr>
            </a:pPr>
            <a:r>
              <a:t>13. FUTURE SCOPE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Future Roadmap &amp; Technical Extensions</a:t>
            </a:r>
          </a:p>
        </p:txBody>
      </p:sp>
      <p:sp>
        <p:nvSpPr>
          <p:cNvPr id="4" name="Rectangle 3"/>
          <p:cNvSpPr/>
          <p:nvPr/>
        </p:nvSpPr>
        <p:spPr>
          <a:xfrm>
            <a:off x="731520" y="1371600"/>
            <a:ext cx="10698480" cy="36576"/>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6B6D4"/>
                </a:solidFill>
              </a:defRPr>
            </a:pPr>
            <a:r>
              <a:t>🤖 AI Developmental Analytics</a:t>
            </a:r>
            <a:br/>
          </a:p>
          <a:p>
            <a:br/>
            <a:pPr>
              <a:defRPr sz="1300">
                <a:solidFill>
                  <a:srgbClr val="F8FAFC"/>
                </a:solidFill>
              </a:defRPr>
            </a:pPr>
            <a:r>
              <a:t>Train lightweight machine learning models to analyze milestone patterns, detect developmental speech/motor delays, and recommend tailored sensory exercises.</a:t>
            </a:r>
            <a:br/>
            <a:br/>
          </a:p>
          <a:p>
            <a:pPr>
              <a:defRPr sz="1200">
                <a:solidFill>
                  <a:srgbClr val="94A3B8"/>
                </a:solidFill>
              </a:defRPr>
            </a:pPr>
            <a:r>
              <a:t>Key Upgrades:</a:t>
            </a:r>
            <a:br/>
            <a:r>
              <a:t>• Stripe / Razorpay Tuition Billing</a:t>
            </a:r>
            <a:br/>
            <a:r>
              <a:t>• Real-Time Bus GPS Tracking</a:t>
            </a:r>
            <a:br/>
            <a:r>
              <a:t>• Multi-Language Audio Localization</a:t>
            </a:r>
          </a:p>
        </p:txBody>
      </p:sp>
      <p:sp>
        <p:nvSpPr>
          <p:cNvPr id="6" name="Rounded Rectangle 5"/>
          <p:cNvSpPr/>
          <p:nvPr/>
        </p:nvSpPr>
        <p:spPr>
          <a:xfrm>
            <a:off x="4343400"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Native Mobile Apps</a:t>
            </a:r>
            <a:br/>
          </a:p>
          <a:p>
            <a:br/>
            <a:pPr>
              <a:defRPr sz="1300">
                <a:solidFill>
                  <a:srgbClr val="F8FAFC"/>
                </a:solidFill>
              </a:defRPr>
            </a:pPr>
            <a:r>
              <a:t>Wrap the REST API with React Native or Flutter for native iOS and Android experiences with Apple Health &amp; Google Fit biometric integration.</a:t>
            </a:r>
            <a:br/>
            <a:br/>
          </a:p>
          <a:p>
            <a:pPr>
              <a:defRPr sz="1200">
                <a:solidFill>
                  <a:srgbClr val="94A3B8"/>
                </a:solidFill>
              </a:defRPr>
            </a:pPr>
            <a:r>
              <a:t>Key Upgrades:</a:t>
            </a:r>
            <a:br/>
            <a:r>
              <a:t>• Stripe / Razorpay Tuition Billing</a:t>
            </a:r>
            <a:br/>
            <a:r>
              <a:t>• Real-Time Bus GPS Tracking</a:t>
            </a:r>
            <a:br/>
            <a:r>
              <a:t>• Multi-Language Audio Localization</a:t>
            </a:r>
          </a:p>
        </p:txBody>
      </p:sp>
      <p:sp>
        <p:nvSpPr>
          <p:cNvPr id="7" name="Rounded Rectangle 6"/>
          <p:cNvSpPr/>
          <p:nvPr/>
        </p:nvSpPr>
        <p:spPr>
          <a:xfrm>
            <a:off x="7955279" y="1645920"/>
            <a:ext cx="347472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6366F1"/>
                </a:solidFill>
              </a:defRPr>
            </a:pPr>
            <a:r>
              <a:t>🚪 IoT Smart Gate &amp; Access Control</a:t>
            </a:r>
            <a:br/>
          </a:p>
          <a:p>
            <a:br/>
            <a:pPr>
              <a:defRPr sz="1300">
                <a:solidFill>
                  <a:srgbClr val="F8FAFC"/>
                </a:solidFill>
              </a:defRPr>
            </a:pPr>
            <a:r>
              <a:t>Connect smart RFID cards and biometric hardware directly to physical turnstiles at daycare entrance gates for automated, secure door unlock.</a:t>
            </a:r>
            <a:br/>
            <a:br/>
          </a:p>
          <a:p>
            <a:pPr>
              <a:defRPr sz="1200">
                <a:solidFill>
                  <a:srgbClr val="94A3B8"/>
                </a:solidFill>
              </a:defRPr>
            </a:pPr>
            <a:r>
              <a:t>Key Upgrades:</a:t>
            </a:r>
            <a:br/>
            <a:r>
              <a:t>• Stripe / Razorpay Tuition Billing</a:t>
            </a:r>
            <a:br/>
            <a:r>
              <a:t>• Real-Time Bus GPS Tracking</a:t>
            </a:r>
            <a:br/>
            <a:r>
              <a:t>• Multi-Language Audio Localization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914400"/>
            <a:ext cx="10360152"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8FAFC"/>
                </a:solidFill>
              </a:defRPr>
            </a:pPr>
            <a:r>
              <a:t>🎓 Conclusion &amp; Viva Defense</a:t>
            </a:r>
          </a:p>
          <a:p>
            <a:pPr algn="ctr">
              <a:defRPr sz="1800">
                <a:solidFill>
                  <a:srgbClr val="10B981"/>
                </a:solidFill>
              </a:defRPr>
            </a:pPr>
            <a:r>
              <a:t>Virtual Daycare Platform: Bridging Child Care with Real-Time Engineering</a:t>
            </a:r>
          </a:p>
          <a:p>
            <a:br/>
            <a:pPr algn="ctr">
              <a:defRPr sz="1400">
                <a:solidFill>
                  <a:srgbClr val="94A3B8"/>
                </a:solidFill>
              </a:defRPr>
            </a:pPr>
            <a:r>
              <a:t>• 100% Passing Automated Test Suite  • Production Ready WSGI Architecture</a:t>
            </a:r>
            <a:br/>
            <a:r>
              <a:t>• Zero-Leak Multi-Tenant Isolation  • Streamlined Daily Attendance Roster</a:t>
            </a:r>
          </a:p>
          <a:p>
            <a:br/>
            <a:br/>
            <a:pPr algn="ctr">
              <a:defRPr sz="1600" b="1">
                <a:solidFill>
                  <a:srgbClr val="6366F1"/>
                </a:solidFill>
              </a:defRPr>
            </a:pPr>
            <a:r>
              <a:t>Thank you! We welcome questions from the review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