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15600" y="457200"/>
            <a:ext cx="1371600" cy="1371600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457200" y="5029200"/>
            <a:ext cx="1828800" cy="1828800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VIRTUAL DAYCARE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B4D8"/>
                </a:solidFill>
                <a:latin typeface="Calibri"/>
              </a:defRPr>
            </a:pPr>
            <a:r>
              <a:t>Connecting Parents &amp; Caretakers in Real-Time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2926080"/>
            <a:ext cx="4876495" cy="27432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200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AAAAA"/>
                </a:solidFill>
                <a:latin typeface="Calibri"/>
              </a:defRPr>
            </a:pPr>
            <a:r>
              <a:t>A Complete Early Childhood Management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BALAJI K  |  KAPILDEV P  |  NAVEEN E  |  RAGUL V  |  KUMARAGURU 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486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88"/>
                </a:solidFill>
                <a:latin typeface="Calibri"/>
              </a:defRPr>
            </a:pPr>
            <a:r>
              <a:t>Under the Guidance of Dr.S.MADHANMOHAN M.C.A.,M.B.A.,M.Phil.,Ph.D.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Department of Computer Application, Arignar Anna Government Arts College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6309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B4D8"/>
                </a:solidFill>
                <a:latin typeface="Calibri"/>
              </a:defRPr>
            </a:pPr>
            <a:r>
              <a:t>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  <a:latin typeface="Calibri"/>
              </a:defRPr>
            </a:pPr>
            <a:r>
              <a:t>1. Introduction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2743200" cy="36576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1A1A2E"/>
                </a:solidFill>
                <a:latin typeface="Calibri"/>
              </a:defRPr>
            </a:pPr>
            <a:r>
              <a:t>What is Virtual Daycare Platform?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spcAft>
                <a:spcPts val="600"/>
              </a:spcAft>
              <a:defRPr sz="1600" b="0">
                <a:solidFill>
                  <a:srgbClr val="1A1A2E"/>
                </a:solidFill>
                <a:latin typeface="Calibri"/>
              </a:defRPr>
            </a:pPr>
            <a:r>
              <a:t>A full-stack web application designed to connect daycare administration,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1A1A2E"/>
                </a:solidFill>
                <a:latin typeface="Calibri"/>
              </a:defRPr>
            </a:pPr>
            <a:r>
              <a:t>classroom caretakers, and parents into one unified, secure platform.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spcAft>
                <a:spcPts val="600"/>
              </a:spcAft>
              <a:defRPr sz="1600" b="0">
                <a:solidFill>
                  <a:srgbClr val="1A1A2E"/>
                </a:solidFill>
                <a:latin typeface="Calibri"/>
              </a:defRPr>
            </a:pPr>
            <a:r>
              <a:t>The platform eliminates manual administrative overhead, digitizes compliance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1A1A2E"/>
                </a:solidFill>
                <a:latin typeface="Calibri"/>
              </a:defRPr>
            </a:pPr>
            <a:r>
              <a:t>records, and fosters parental trust through transparent, real-time engagement.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spcAft>
                <a:spcPts val="600"/>
              </a:spcAft>
              <a:defRPr sz="1600" b="0">
                <a:solidFill>
                  <a:srgbClr val="1A1A2E"/>
                </a:solidFill>
                <a:latin typeface="Calibri"/>
              </a:defRPr>
            </a:pPr>
            <a:r>
              <a:t>Built with Python 3.11, Flask 3.1, SQLAlchemy ORM, Flask-Login, Flask-SocketIO,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1A1A2E"/>
                </a:solidFill>
                <a:latin typeface="Calibri"/>
              </a:defRPr>
            </a:pPr>
            <a:r>
              <a:t>and Bootstrap 5 for a modern, responsive experience.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74C3C"/>
                </a:solidFill>
                <a:latin typeface="Calibri"/>
              </a:defRPr>
            </a:pPr>
            <a:r>
              <a:t>2. 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2743200" cy="36576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515600" cy="1005840"/>
          </a:xfrm>
          <a:prstGeom prst="roundRect">
            <a:avLst/>
          </a:prstGeom>
          <a:solidFill>
            <a:srgbClr val="FF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1554480"/>
            <a:ext cx="640080" cy="640080"/>
          </a:xfrm>
          <a:prstGeom prst="ellipse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463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Calibri"/>
              </a:defRPr>
            </a:pPr>
            <a:r>
              <a:t>Manual Record Keeping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874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Paper registers lead to errors, delays, and data loss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560320"/>
            <a:ext cx="10515600" cy="1005840"/>
          </a:xfrm>
          <a:prstGeom prst="roundRect">
            <a:avLst/>
          </a:prstGeom>
          <a:solidFill>
            <a:srgbClr val="FF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2743200"/>
            <a:ext cx="640080" cy="640080"/>
          </a:xfrm>
          <a:prstGeom prst="ellipse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651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Calibri"/>
              </a:defRPr>
            </a:pPr>
            <a:r>
              <a:t>Communication Gap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0632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No real-time updates for parents about their child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49039"/>
            <a:ext cx="10515600" cy="1005840"/>
          </a:xfrm>
          <a:prstGeom prst="roundRect">
            <a:avLst/>
          </a:prstGeom>
          <a:solidFill>
            <a:srgbClr val="FF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14400" y="3931919"/>
            <a:ext cx="640080" cy="640080"/>
          </a:xfrm>
          <a:prstGeom prst="ellipse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84047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Calibri"/>
              </a:defRPr>
            </a:pPr>
            <a:r>
              <a:t>Attendance Tracking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25195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Difficult to track daily attendance and generate reports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937760"/>
            <a:ext cx="10515600" cy="1005840"/>
          </a:xfrm>
          <a:prstGeom prst="roundRect">
            <a:avLst/>
          </a:prstGeom>
          <a:solidFill>
            <a:srgbClr val="FF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14400" y="5120640"/>
            <a:ext cx="640080" cy="640080"/>
          </a:xfrm>
          <a:prstGeom prst="ellipse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5029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Calibri"/>
              </a:defRPr>
            </a:pPr>
            <a:r>
              <a:t>No Centralized System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5440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Fragmented information across different staff members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ECC71"/>
                </a:solidFill>
                <a:latin typeface="Calibri"/>
              </a:defRPr>
            </a:pPr>
            <a:r>
              <a:t>3. Proposed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2743200" cy="36576"/>
          </a:xfrm>
          <a:prstGeom prst="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1A1A2E"/>
                </a:solidFill>
                <a:latin typeface="Calibri"/>
              </a:defRPr>
            </a:pPr>
            <a:r>
              <a:t>The Virtual Daycare Platform automates all major daycare operations: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spcAft>
                <a:spcPts val="600"/>
              </a:spcAft>
              <a:defRPr sz="1600" b="0">
                <a:solidFill>
                  <a:srgbClr val="1A1A2E"/>
                </a:solidFill>
                <a:latin typeface="Calibri"/>
              </a:defRPr>
            </a:pPr>
            <a:r>
              <a:t>  -&gt;  Automated activity logging (meals, naps, mood, diapers, milestones)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1A1A2E"/>
                </a:solidFill>
                <a:latin typeface="Calibri"/>
              </a:defRPr>
            </a:pPr>
            <a:r>
              <a:t>  -&gt;  Real-time parent-caregiver messaging with emergency alerts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1A1A2E"/>
                </a:solidFill>
                <a:latin typeface="Calibri"/>
              </a:defRPr>
            </a:pPr>
            <a:r>
              <a:t>  -&gt;  Digital attendance roster with QR code support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1A1A2E"/>
                </a:solidFill>
                <a:latin typeface="Calibri"/>
              </a:defRPr>
            </a:pPr>
            <a:r>
              <a:t>  -&gt;  Photo sharing and daily timeline for parents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1A1A2E"/>
                </a:solidFill>
                <a:latin typeface="Calibri"/>
              </a:defRPr>
            </a:pPr>
            <a:r>
              <a:t>  -&gt;  Centralized admin dashboard for management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1A1A2E"/>
                </a:solidFill>
                <a:latin typeface="Calibri"/>
              </a:defRPr>
            </a:pPr>
            <a:r>
              <a:t>  -&gt;  Learning hub with age-appropriate educational resources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spcAft>
                <a:spcPts val="600"/>
              </a:spcAft>
              <a:defRPr sz="1600" b="0">
                <a:solidFill>
                  <a:srgbClr val="1A1A2E"/>
                </a:solidFill>
                <a:latin typeface="Calibri"/>
              </a:defRPr>
            </a:pPr>
            <a:r>
              <a:t>Result: Greater efficiency, accuracy, and speed compared to manual systems.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4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34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498DB"/>
                </a:solidFill>
                <a:latin typeface="Calibri"/>
              </a:defRPr>
            </a:pPr>
            <a:r>
              <a:t>4. 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2743200" cy="36576"/>
          </a:xfrm>
          <a:prstGeom prst="rect">
            <a:avLst/>
          </a:prstGeom>
          <a:solidFill>
            <a:srgbClr val="34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74720" cy="3200400"/>
          </a:xfrm>
          <a:prstGeom prst="round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Presentation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56032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HTML, CSS, JavaScript</a:t>
            </a:r>
            <a:br/>
            <a:r>
              <a:t>Bootstrap 5, Jinja2</a:t>
            </a:r>
            <a:br/>
            <a:r>
              <a:t>Socket.IO Client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2926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A1A2E"/>
                </a:solidFill>
                <a:latin typeface="Calibri"/>
              </a:defRPr>
            </a:pPr>
            <a:r>
              <a:t>-&gt;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645920"/>
            <a:ext cx="3474720" cy="320040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8288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Application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256032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Python 3.11, Flask 3.1</a:t>
            </a:r>
            <a:br/>
            <a:r>
              <a:t>Flask-SocketIO</a:t>
            </a:r>
            <a:br/>
            <a:r>
              <a:t>Flask-Login, Werkzeug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2926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A1A2E"/>
                </a:solidFill>
                <a:latin typeface="Calibri"/>
              </a:defRPr>
            </a:pPr>
            <a:r>
              <a:t>-&gt;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1645920"/>
            <a:ext cx="3474720" cy="3200400"/>
          </a:xfrm>
          <a:prstGeom prst="round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18288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Data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256032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SQLite Database</a:t>
            </a:r>
            <a:br/>
            <a:r>
              <a:t>SQLAlchemy ORM</a:t>
            </a:r>
            <a:br/>
            <a:r>
              <a:t>Flask-SQLAlchemy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0292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A1A2E"/>
                </a:solidFill>
                <a:latin typeface="Calibri"/>
              </a:defRPr>
            </a:pPr>
            <a:r>
              <a:t>Three-tier architecture ensures separation of concerns, scalability, and maintainability.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9B59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9B59B6"/>
                </a:solidFill>
                <a:latin typeface="Calibri"/>
              </a:defRPr>
            </a:pPr>
            <a:r>
              <a:t>5. Key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2743200" cy="36576"/>
          </a:xfrm>
          <a:prstGeom prst="rect">
            <a:avLst/>
          </a:prstGeom>
          <a:solidFill>
            <a:srgbClr val="9B59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474720" cy="2011680"/>
          </a:xfrm>
          <a:prstGeom prst="round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Role-Based Access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Admin, Caregiver, Parent portals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371600"/>
            <a:ext cx="3474720" cy="201168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55448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Real-Time Chat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219456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WebSocket messaging with alerts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1371600"/>
            <a:ext cx="3474720" cy="2011680"/>
          </a:xfrm>
          <a:prstGeom prst="round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155448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QR Attendance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219456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1-click check-in/check-out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657600"/>
            <a:ext cx="3474720" cy="2011680"/>
          </a:xfrm>
          <a:prstGeom prst="roundRect">
            <a:avLst/>
          </a:prstGeom>
          <a:solidFill>
            <a:srgbClr val="34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84048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Activity Logging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48056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6 categories of daily logs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0" y="3657600"/>
            <a:ext cx="3474720" cy="2011680"/>
          </a:xfrm>
          <a:prstGeom prst="roundRect">
            <a:avLst/>
          </a:prstGeom>
          <a:solidFill>
            <a:srgbClr val="9B59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384048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Photo Sharing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448056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Categorized photo gallery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0" y="3657600"/>
            <a:ext cx="3474720" cy="2011680"/>
          </a:xfrm>
          <a:prstGeom prst="round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384048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Emergency Alerts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448056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High-priority notifications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0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67E22"/>
                </a:solidFill>
                <a:latin typeface="Calibri"/>
              </a:defRPr>
            </a:pPr>
            <a:r>
              <a:t>6. 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2743200" cy="36576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474720" cy="2011680"/>
          </a:xfrm>
          <a:prstGeom prst="round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HTML5, CSS3, JavaScript</a:t>
            </a:r>
            <a:br/>
            <a:r>
              <a:t>Bootstrap 5.3, Jinja2</a:t>
            </a:r>
            <a:br/>
            <a:r>
              <a:t>Socket.IO Client 4.7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371600"/>
            <a:ext cx="3474720" cy="201168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55448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219456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Python 3.11</a:t>
            </a:r>
            <a:br/>
            <a:r>
              <a:t>Flask 3.1.3</a:t>
            </a:r>
            <a:br/>
            <a:r>
              <a:t>Flask-SocketIO 5.6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1371600"/>
            <a:ext cx="3474720" cy="2011680"/>
          </a:xfrm>
          <a:prstGeom prst="round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155448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Database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219456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SQLite 3</a:t>
            </a:r>
            <a:br/>
            <a:r>
              <a:t>SQLAlchemy 2.0</a:t>
            </a:r>
            <a:br/>
            <a:r>
              <a:t>Flask-SQLAlchemy 3.1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657600"/>
            <a:ext cx="3474720" cy="2011680"/>
          </a:xfrm>
          <a:prstGeom prst="round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84048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Security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48056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Werkzeug 3.1</a:t>
            </a:r>
            <a:br/>
            <a:r>
              <a:t>PBKDF2 Hashing</a:t>
            </a:r>
            <a:br/>
            <a:r>
              <a:t>Flask-Login 0.6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0" y="3657600"/>
            <a:ext cx="3474720" cy="2011680"/>
          </a:xfrm>
          <a:prstGeom prst="roundRect">
            <a:avLst/>
          </a:prstGeom>
          <a:solidFill>
            <a:srgbClr val="34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384048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Deployment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448056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Gunicorn 26.2</a:t>
            </a:r>
            <a:br/>
            <a:r>
              <a:t>WSGI (wsgi.py)</a:t>
            </a:r>
            <a:br/>
            <a:r>
              <a:t>Procfile for cloud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0" y="3657600"/>
            <a:ext cx="3474720" cy="2011680"/>
          </a:xfrm>
          <a:prstGeom prst="roundRect">
            <a:avLst/>
          </a:prstGeom>
          <a:solidFill>
            <a:srgbClr val="9B59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384048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Tools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448056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VS Code</a:t>
            </a:r>
            <a:br/>
            <a:r>
              <a:t>Python unittest</a:t>
            </a:r>
            <a:br/>
            <a:r>
              <a:t>SQLite Browser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0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BC9C"/>
                </a:solidFill>
                <a:latin typeface="Calibri"/>
              </a:defRPr>
            </a:pPr>
            <a:r>
              <a:t>7. System Modules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2743200" cy="36576"/>
          </a:xfrm>
          <a:prstGeom prst="rect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474720" cy="2011680"/>
          </a:xfrm>
          <a:prstGeom prst="round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Authentication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Login, Register, Password Reset, Role Management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371600"/>
            <a:ext cx="3474720" cy="201168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55448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Admin Module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219456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Dashboard, Child Enrollment, Caregiver Approval, Complaints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1371600"/>
            <a:ext cx="3474720" cy="2011680"/>
          </a:xfrm>
          <a:prstGeom prst="round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155448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Caregiver Module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219456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Activity Log, Attendance, Photo Upload, Emergency Alerts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657600"/>
            <a:ext cx="3474720" cy="2011680"/>
          </a:xfrm>
          <a:prstGeom prst="roundRect">
            <a:avLst/>
          </a:prstGeom>
          <a:solidFill>
            <a:srgbClr val="34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84048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Parent Module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48056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Timeline, Photos, Attendance History, Messaging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0" y="3657600"/>
            <a:ext cx="3474720" cy="2011680"/>
          </a:xfrm>
          <a:prstGeom prst="roundRect">
            <a:avLst/>
          </a:prstGeom>
          <a:solidFill>
            <a:srgbClr val="9B59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384048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Messaging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448056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Real-time Chat, Emergency Flags, Notifications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0" y="3657600"/>
            <a:ext cx="3474720" cy="2011680"/>
          </a:xfrm>
          <a:prstGeom prst="round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384048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Learning Hub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448056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Rhymes, Stories, Activities by Age Group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  <a:latin typeface="Calibri"/>
              </a:defRPr>
            </a:pPr>
            <a:r>
              <a:t>8. Database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2743200" cy="36576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474720" cy="146304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users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id, name, email, password_hash, role, is_approved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371600"/>
            <a:ext cx="3474720" cy="146304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4630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children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92024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id, name, dob, gender, allergies, parent_id, caregiver_id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1371600"/>
            <a:ext cx="3474720" cy="146304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14630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activity_logs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192024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id, child_id, type, title, details, logged_by, timestamp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017520"/>
            <a:ext cx="3474720" cy="146304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1089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attendance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56616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id, child_id, date, check_in_time, check_out_time, status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0" y="3017520"/>
            <a:ext cx="3474720" cy="146304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31089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messages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356616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id, child_id, sender_id, receiver_id, content, is_alert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0" y="3017520"/>
            <a:ext cx="3474720" cy="146304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31089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notifications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356616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id, user_id, title, message, link, is_read, is_urgent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663440"/>
            <a:ext cx="3474720" cy="146304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7548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photos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2120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id, child_id, filepath, caption, category, uploaded_by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0" y="4663440"/>
            <a:ext cx="3474720" cy="146304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0" y="47548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learning_resources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0" y="52120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id, title, type, age_group, content_url_or_text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12480" y="4663440"/>
            <a:ext cx="3474720" cy="146304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80" y="47548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complaints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95360" y="52120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id, user_id, subject, message, status, admin_response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B8860B"/>
                </a:solidFill>
                <a:latin typeface="Calibri"/>
              </a:defRPr>
            </a:pPr>
            <a:r>
              <a:t>9. Implementation Highlights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2743200" cy="36576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029200" cy="1463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1645920"/>
            <a:ext cx="731520" cy="731520"/>
          </a:xfrm>
          <a:prstGeom prst="ellipse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5087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Calibri"/>
              </a:defRPr>
            </a:pPr>
            <a:r>
              <a:t>Modular Blueprint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01168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7 separate Flask Blueprints for clean code organization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029200" cy="1463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00800" y="1645920"/>
            <a:ext cx="731520" cy="731520"/>
          </a:xfrm>
          <a:prstGeom prst="ellipse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15087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Calibri"/>
              </a:defRPr>
            </a:pPr>
            <a:r>
              <a:t>Role-Based Access 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201168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Custom @role_required decorators with strict 403 enforcement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017520"/>
            <a:ext cx="5029200" cy="1463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14400" y="3291840"/>
            <a:ext cx="731520" cy="731520"/>
          </a:xfrm>
          <a:prstGeom prst="ellipse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1546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Calibri"/>
              </a:defRPr>
            </a:pPr>
            <a:r>
              <a:t>Multi-Tenant Data Isolation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365760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get_authorized_child() ensures data privacy between users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017520"/>
            <a:ext cx="5029200" cy="1463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00800" y="3291840"/>
            <a:ext cx="731520" cy="731520"/>
          </a:xfrm>
          <a:prstGeom prst="ellipse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31546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Calibri"/>
              </a:defRPr>
            </a:pPr>
            <a:r>
              <a:t>Real-Time WebSocket Chat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365760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Flask-SocketIO with room-based message broadcasting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663440"/>
            <a:ext cx="5029200" cy="1463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14400" y="4937760"/>
            <a:ext cx="731520" cy="731520"/>
          </a:xfrm>
          <a:prstGeom prst="ellipse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4800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Calibri"/>
              </a:defRPr>
            </a:pPr>
            <a:r>
              <a:t>QR Code Attendance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530352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Auto-generated QR codes for 1-click check-in/check-out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4663440"/>
            <a:ext cx="5029200" cy="1463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00800" y="4937760"/>
            <a:ext cx="731520" cy="731520"/>
          </a:xfrm>
          <a:prstGeom prst="ellipse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4800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Calibri"/>
              </a:defRPr>
            </a:pPr>
            <a:r>
              <a:t>Automated Notifications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530352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In-app + simulated SMS/Email for urgent alerts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ECC71"/>
                </a:solidFill>
                <a:latin typeface="Calibri"/>
              </a:defRPr>
            </a:pPr>
            <a:r>
              <a:t>10. Testing &amp;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2743200" cy="36576"/>
          </a:xfrm>
          <a:prstGeom prst="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515600" cy="10058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1554480"/>
            <a:ext cx="640080" cy="640080"/>
          </a:xfrm>
          <a:prstGeom prst="ellipse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463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Calibri"/>
              </a:defRPr>
            </a:pPr>
            <a:r>
              <a:t>Unit Testing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874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8/8 test cases passed - Login, Registration, Activity Log, Attendance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560320"/>
            <a:ext cx="10515600" cy="10058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2743200"/>
            <a:ext cx="640080" cy="640080"/>
          </a:xfrm>
          <a:prstGeom prst="ellipse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651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Calibri"/>
              </a:defRPr>
            </a:pPr>
            <a:r>
              <a:t>Integration Testing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0632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All module communications verified - Frontend to Backend to DB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49039"/>
            <a:ext cx="10515600" cy="10058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14400" y="3931919"/>
            <a:ext cx="640080" cy="640080"/>
          </a:xfrm>
          <a:prstGeom prst="ellipse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84047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Calibri"/>
              </a:defRPr>
            </a:pPr>
            <a:r>
              <a:t>System Testing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25195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Complete workflow tested from login to dashboard display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937760"/>
            <a:ext cx="10515600" cy="10058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14400" y="5120640"/>
            <a:ext cx="640080" cy="640080"/>
          </a:xfrm>
          <a:prstGeom prst="ellipse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5029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Calibri"/>
              </a:defRPr>
            </a:pPr>
            <a:r>
              <a:t>User Acceptance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5440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Rating: 9.5/10 - Very User-Friendly, Fast, Accurate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34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498DB"/>
                </a:solidFill>
                <a:latin typeface="Calibri"/>
              </a:defRPr>
            </a:pPr>
            <a:r>
              <a:t>11. Advantages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2743200" cy="36576"/>
          </a:xfrm>
          <a:prstGeom prst="rect">
            <a:avLst/>
          </a:prstGeom>
          <a:solidFill>
            <a:srgbClr val="34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029200" cy="1188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" y="1691640"/>
            <a:ext cx="548640" cy="548640"/>
          </a:xfrm>
          <a:prstGeom prst="ellipse">
            <a:avLst/>
          </a:prstGeom>
          <a:solidFill>
            <a:srgbClr val="34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&gt;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1645920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1A2E"/>
                </a:solidFill>
                <a:latin typeface="Calibri"/>
              </a:defRPr>
            </a:pPr>
            <a:r>
              <a:t>Reduces manual workload and paperwork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029200" cy="1188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92240" y="1691640"/>
            <a:ext cx="548640" cy="548640"/>
          </a:xfrm>
          <a:prstGeom prst="ellipse">
            <a:avLst/>
          </a:prstGeom>
          <a:solidFill>
            <a:srgbClr val="34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0" y="1645920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1A2E"/>
                </a:solidFill>
                <a:latin typeface="Calibri"/>
              </a:defRPr>
            </a:pPr>
            <a:r>
              <a:t>Increases accuracy and data security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743200"/>
            <a:ext cx="5029200" cy="1188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5840" y="3063240"/>
            <a:ext cx="548640" cy="548640"/>
          </a:xfrm>
          <a:prstGeom prst="ellipse">
            <a:avLst/>
          </a:prstGeom>
          <a:solidFill>
            <a:srgbClr val="34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3017520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1A2E"/>
                </a:solidFill>
                <a:latin typeface="Calibri"/>
              </a:defRPr>
            </a:pPr>
            <a:r>
              <a:t>Provides real-time updates and centralized management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743200"/>
            <a:ext cx="5029200" cy="1188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92240" y="3063240"/>
            <a:ext cx="548640" cy="548640"/>
          </a:xfrm>
          <a:prstGeom prst="ellipse">
            <a:avLst/>
          </a:prstGeom>
          <a:solidFill>
            <a:srgbClr val="34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&gt;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3017520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1A2E"/>
                </a:solidFill>
                <a:latin typeface="Calibri"/>
              </a:defRPr>
            </a:pPr>
            <a:r>
              <a:t>Enhances parent satisfaction and engagement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114800"/>
            <a:ext cx="5029200" cy="1188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05840" y="4434840"/>
            <a:ext cx="548640" cy="548640"/>
          </a:xfrm>
          <a:prstGeom prst="ellipse">
            <a:avLst/>
          </a:prstGeom>
          <a:solidFill>
            <a:srgbClr val="34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4389120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1A2E"/>
                </a:solidFill>
                <a:latin typeface="Calibri"/>
              </a:defRPr>
            </a:pPr>
            <a:r>
              <a:t>Saves time for both parents and daycare staff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4114800"/>
            <a:ext cx="5029200" cy="1188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92240" y="4434840"/>
            <a:ext cx="548640" cy="548640"/>
          </a:xfrm>
          <a:prstGeom prst="ellipse">
            <a:avLst/>
          </a:prstGeom>
          <a:solidFill>
            <a:srgbClr val="34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&gt;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389120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1A2E"/>
                </a:solidFill>
                <a:latin typeface="Calibri"/>
              </a:defRPr>
            </a:pPr>
            <a:r>
              <a:t>Supports future expansion with advanced features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9B59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9B59B6"/>
                </a:solidFill>
                <a:latin typeface="Calibri"/>
              </a:defRPr>
            </a:pPr>
            <a:r>
              <a:t>12. Future Enhancements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2743200" cy="36576"/>
          </a:xfrm>
          <a:prstGeom prst="rect">
            <a:avLst/>
          </a:prstGeom>
          <a:solidFill>
            <a:srgbClr val="9B59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474720" cy="2011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9B59B6"/>
                </a:solidFill>
                <a:latin typeface="Calibri"/>
              </a:defRPr>
            </a:pPr>
            <a:r>
              <a:t>Payment Gateway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  <a:latin typeface="Calibri"/>
              </a:defRPr>
            </a:pPr>
            <a:r>
              <a:t>Integrate Razorpay/Stripe for fee collection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371600"/>
            <a:ext cx="3474720" cy="2011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55448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9B59B6"/>
                </a:solidFill>
                <a:latin typeface="Calibri"/>
              </a:defRPr>
            </a:pPr>
            <a:r>
              <a:t>Email &amp; SMS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219456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  <a:latin typeface="Calibri"/>
              </a:defRPr>
            </a:pPr>
            <a:r>
              <a:t>Twilio/SendGrid for real notifications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1371600"/>
            <a:ext cx="3474720" cy="2011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155448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9B59B6"/>
                </a:solidFill>
                <a:latin typeface="Calibri"/>
              </a:defRPr>
            </a:pPr>
            <a:r>
              <a:t>Multi-Admin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219456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  <a:latin typeface="Calibri"/>
              </a:defRPr>
            </a:pPr>
            <a:r>
              <a:t>Multiple admin accounts with role hierarchy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657600"/>
            <a:ext cx="3474720" cy="2011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84048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9B59B6"/>
                </a:solidFill>
                <a:latin typeface="Calibri"/>
              </a:defRPr>
            </a:pPr>
            <a:r>
              <a:t>Analytics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48056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  <a:latin typeface="Calibri"/>
              </a:defRPr>
            </a:pPr>
            <a:r>
              <a:t>Graphical reports and progress trends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0" y="3657600"/>
            <a:ext cx="3474720" cy="2011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384048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9B59B6"/>
                </a:solidFill>
                <a:latin typeface="Calibri"/>
              </a:defRPr>
            </a:pPr>
            <a:r>
              <a:t>Multi-Branch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448056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  <a:latin typeface="Calibri"/>
              </a:defRPr>
            </a:pPr>
            <a:r>
              <a:t>Support multiple daycare locations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0" y="3657600"/>
            <a:ext cx="3474720" cy="2011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384048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9B59B6"/>
                </a:solidFill>
                <a:latin typeface="Calibri"/>
              </a:defRPr>
            </a:pPr>
            <a:r>
              <a:t>Cloud Hosting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448056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  <a:latin typeface="Calibri"/>
              </a:defRPr>
            </a:pPr>
            <a:r>
              <a:t>Deploy on AWS/Render for 24x7 access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13. 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2286000"/>
            <a:ext cx="4876495" cy="27432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144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The Virtual Daycare Platform successfully automates daycare management,</a:t>
            </a:r>
          </a:p>
          <a:p>
            <a:pPr algn="ctr">
              <a:spcAft>
                <a:spcPts val="60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activity tracking, and parent-caregiver communication.</a:t>
            </a:r>
          </a:p>
          <a:p>
            <a:pPr algn="ctr">
              <a:spcAft>
                <a:spcPts val="60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spcAft>
                <a:spcPts val="60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It integrates modern web technologies to deliver a fast, accurate,</a:t>
            </a:r>
          </a:p>
          <a:p>
            <a:pPr algn="ctr">
              <a:spcAft>
                <a:spcPts val="60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and user-friendly experience for all stakeholders.</a:t>
            </a:r>
          </a:p>
          <a:p>
            <a:pPr algn="ctr">
              <a:spcAft>
                <a:spcPts val="60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spcAft>
                <a:spcPts val="60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The system is efficient, accurate, reliable, and user-friendly -</a:t>
            </a:r>
          </a:p>
          <a:p>
            <a:pPr algn="ctr">
              <a:spcAft>
                <a:spcPts val="60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a robust foundation for future enhancements.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058400" y="914400"/>
            <a:ext cx="1371600" cy="1371600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5029200"/>
            <a:ext cx="1371600" cy="1371600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Thank You!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57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B4D8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4389120"/>
            <a:ext cx="4876495" cy="27432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754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BALAJI K  |  KAPILDEV P  |  NAVEEN E  |  RAGUL V  |  KUMARAGURU 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212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88"/>
                </a:solidFill>
                <a:latin typeface="Calibri"/>
              </a:defRPr>
            </a:pPr>
            <a:r>
              <a:t>Department of Computer Application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577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Arignar Anna Government Arts College, Villupuram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